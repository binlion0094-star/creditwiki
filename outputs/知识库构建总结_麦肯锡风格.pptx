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B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463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C8C8C"/>
                </a:solidFill>
              </a:defRPr>
            </a:pPr>
            <a:r>
              <a:t>HAMMES AGENT · CREDITWIKI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9202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CreditWiki 知识库构建总结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063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C8C8C"/>
                </a:solidFill>
              </a:defRPr>
            </a:pPr>
            <a:r>
              <a:t>从信贷审查到智能报告的完整工具链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657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C8C8C"/>
                </a:solidFill>
              </a:defRPr>
            </a:pPr>
            <a:r>
              <a:t>2026年4月21日    |    银行信贷知识库</a:t>
            </a:r>
          </a:p>
        </p:txBody>
      </p:sp>
      <p:sp>
        <p:nvSpPr>
          <p:cNvPr id="9" name="Oval 8"/>
          <p:cNvSpPr/>
          <p:nvPr/>
        </p:nvSpPr>
        <p:spPr>
          <a:xfrm>
            <a:off x="8641080" y="4640580"/>
            <a:ext cx="365760" cy="365760"/>
          </a:xfrm>
          <a:prstGeom prst="ellipse">
            <a:avLst/>
          </a:prstGeom>
          <a:solidFill>
            <a:srgbClr val="1B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68512" y="468630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核心成果概览</a:t>
            </a:r>
          </a:p>
        </p:txBody>
      </p:sp>
      <p:sp>
        <p:nvSpPr>
          <p:cNvPr id="4" name="Oval 3"/>
          <p:cNvSpPr/>
          <p:nvPr/>
        </p:nvSpPr>
        <p:spPr>
          <a:xfrm>
            <a:off x="8641080" y="4640580"/>
            <a:ext cx="365760" cy="365760"/>
          </a:xfrm>
          <a:prstGeom prst="ellipse">
            <a:avLst/>
          </a:prstGeom>
          <a:solidFill>
            <a:srgbClr val="1B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68512" y="468630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38912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AB5"/>
                </a:solidFill>
              </a:defRPr>
            </a:pPr>
            <a:r>
              <a:t>CreditWiki 知识库体系已完成全链路构建，覆盖信号获取→分析→报告全流程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804672"/>
            <a:ext cx="2011680" cy="9601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804672"/>
            <a:ext cx="45720" cy="960120"/>
          </a:xfrm>
          <a:prstGeom prst="rect">
            <a:avLst/>
          </a:prstGeom>
          <a:solidFill>
            <a:srgbClr val="1B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22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5AB5"/>
                </a:solidFill>
              </a:defRPr>
            </a:pPr>
            <a: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29844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2D2D"/>
                </a:solidFill>
              </a:defRPr>
            </a:pPr>
            <a:r>
              <a:t>核心技能模块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087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</a:defRPr>
            </a:pPr>
            <a:r>
              <a:t>credit-review 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79" y="804672"/>
            <a:ext cx="2011680" cy="9601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68879" y="804672"/>
            <a:ext cx="45720" cy="960120"/>
          </a:xfrm>
          <a:prstGeom prst="rect">
            <a:avLst/>
          </a:prstGeom>
          <a:solidFill>
            <a:srgbClr val="2E8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0" y="822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E8BC0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129844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2D2D"/>
                </a:solidFill>
              </a:defRPr>
            </a:pPr>
            <a:r>
              <a:t>数据接口集成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15087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</a:defRPr>
            </a:pPr>
            <a:r>
              <a:t>新浪财经·Tushare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804672"/>
            <a:ext cx="2011680" cy="9601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63440" y="804672"/>
            <a:ext cx="45720" cy="960120"/>
          </a:xfrm>
          <a:prstGeom prst="rect">
            <a:avLst/>
          </a:prstGeom>
          <a:solidFill>
            <a:srgbClr val="3AA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79" y="822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AAF6C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129844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2D2D"/>
                </a:solidFill>
              </a:defRPr>
            </a:pPr>
            <a:r>
              <a:t>报告输出格式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79" y="15087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</a:defRPr>
            </a:pPr>
            <a:r>
              <a:t>Markdown·Word·PPT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7999" y="804672"/>
            <a:ext cx="2011680" cy="9601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7999" y="804672"/>
            <a:ext cx="45720" cy="9601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39" y="822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843"/>
                </a:solidFill>
              </a:defRPr>
            </a:pPr>
            <a: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39" y="129844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2D2D"/>
                </a:solidFill>
              </a:defRPr>
            </a:pPr>
            <a:r>
              <a:t>信贷审查模块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39" y="15087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</a:defRPr>
            </a:pPr>
            <a:r>
              <a:t>企业→财务→授信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1901952"/>
            <a:ext cx="1645920" cy="26974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1901952"/>
            <a:ext cx="1645920" cy="45720"/>
          </a:xfrm>
          <a:prstGeom prst="rect">
            <a:avLst/>
          </a:prstGeom>
          <a:solidFill>
            <a:srgbClr val="1B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" y="1975104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AB5"/>
                </a:solidFill>
              </a:defRPr>
            </a:pPr>
            <a:r>
              <a:t>📋 信贷审查技能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" y="2258568"/>
            <a:ext cx="15087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2D2D"/>
                </a:solidFill>
              </a:defRPr>
            </a:pPr>
            <a:r>
              <a:t>credit-review 技能完成设计，包含企业画像、公司治理、实控人分析、主营业务、财务分析、融资信息、授信建议、审查结论8大模块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93391" y="1901952"/>
            <a:ext cx="1645920" cy="26974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93391" y="1901952"/>
            <a:ext cx="1645920" cy="45720"/>
          </a:xfrm>
          <a:prstGeom prst="rect">
            <a:avLst/>
          </a:prstGeom>
          <a:solidFill>
            <a:srgbClr val="2E8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66543" y="1975104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8BC0"/>
                </a:solidFill>
              </a:defRPr>
            </a:pPr>
            <a:r>
              <a:t>📡 数据聚合引擎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66543" y="2258568"/>
            <a:ext cx="15087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2D2D"/>
                </a:solidFill>
              </a:defRPr>
            </a:pPr>
            <a:r>
              <a:t>credit-review.py 集成新浪财经 HQ API + Tushare 财务数据，破解东财反爬限制，支持实时行情与历史财务指标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12463" y="1901952"/>
            <a:ext cx="1645920" cy="26974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712463" y="1901952"/>
            <a:ext cx="1645920" cy="45720"/>
          </a:xfrm>
          <a:prstGeom prst="rect">
            <a:avLst/>
          </a:prstGeom>
          <a:solidFill>
            <a:srgbClr val="3AA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85615" y="1975104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AAF6C"/>
                </a:solidFill>
              </a:defRPr>
            </a:pPr>
            <a:r>
              <a:t>📄 Word 报告生成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85615" y="2258568"/>
            <a:ext cx="15087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2D2D"/>
                </a:solidFill>
              </a:defRPr>
            </a:pPr>
            <a:r>
              <a:t>DocForge C# 项目完成 net10.0 适配，CreditReviewReport 模板注册成功，首份 Word 报告已生成（9.2KB）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31536" y="1901952"/>
            <a:ext cx="1645920" cy="26974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31536" y="1901952"/>
            <a:ext cx="1645920" cy="45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04688" y="1975104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843"/>
                </a:solidFill>
              </a:defRPr>
            </a:pPr>
            <a:r>
              <a:t>📊 PPT 技能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04688" y="2258568"/>
            <a:ext cx="15087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2D2D"/>
                </a:solidFill>
              </a:defRPr>
            </a:pPr>
            <a:r>
              <a:t>biz-minimal-ppt 商务简约融合风技能完成，支持多样化背景图（渐变+网络图片），9种幻灯片类型，今日演示生成45KB PPT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50607" y="1901952"/>
            <a:ext cx="1645920" cy="26974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150607" y="1901952"/>
            <a:ext cx="1645920" cy="45720"/>
          </a:xfrm>
          <a:prstGeom prst="rect">
            <a:avLst/>
          </a:prstGeom>
          <a:solidFill>
            <a:srgbClr val="7B6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23759" y="1975104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B6D9E"/>
                </a:solidFill>
              </a:defRPr>
            </a:pPr>
            <a:r>
              <a:t>🏗️ 工具链架构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59" y="2258568"/>
            <a:ext cx="15087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2D2D"/>
                </a:solidFill>
              </a:defRPr>
            </a:pPr>
            <a:r>
              <a:t>Hermes Agent 自动化执行：信号获取(akshare/新浪)→分析(AI)→报告(MD/DOCX/PPT)→归档(CreditWiki)，全流程闭环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494233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C8C8C"/>
                </a:solidFill>
              </a:defRPr>
            </a:pPr>
            <a:r>
              <a:t>Source: CreditWiki | 2026年4月21日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汇报议程</a:t>
            </a:r>
          </a:p>
        </p:txBody>
      </p:sp>
      <p:sp>
        <p:nvSpPr>
          <p:cNvPr id="4" name="Oval 3"/>
          <p:cNvSpPr/>
          <p:nvPr/>
        </p:nvSpPr>
        <p:spPr>
          <a:xfrm>
            <a:off x="8641080" y="4640580"/>
            <a:ext cx="365760" cy="365760"/>
          </a:xfrm>
          <a:prstGeom prst="ellipse">
            <a:avLst/>
          </a:prstGeom>
          <a:solidFill>
            <a:srgbClr val="1B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68512" y="468630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38912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AB5"/>
                </a:solidFill>
              </a:defRPr>
            </a:pPr>
            <a:r>
              <a:t>今天的核心议题：知识库的架构设计与全模块能力展示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80467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5AB5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80467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</a:defRPr>
            </a:pPr>
            <a:r>
              <a:t>项目背景与目标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152144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8C"/>
                </a:solidFill>
              </a:defRPr>
            </a:pPr>
            <a:r>
              <a:t>Hermes Agent × 银行信贷，工具链整合与效率提升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10512"/>
            <a:ext cx="4251960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80467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E8BC0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799" y="80467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</a:defRPr>
            </a:pPr>
            <a:r>
              <a:t>数据接口方案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799" y="1152144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8C"/>
                </a:solidFill>
              </a:defRPr>
            </a:pPr>
            <a:r>
              <a:t>新浪财经 HQ API + Tushare，破解反爬实现稳定获取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59" y="1810512"/>
            <a:ext cx="4251960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26771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AAF6C"/>
                </a:solidFill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226771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</a:defRPr>
            </a:pPr>
            <a:r>
              <a:t>信贷审查技能设计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2615184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8C"/>
                </a:solidFill>
              </a:defRPr>
            </a:pPr>
            <a:r>
              <a:t>8大模块闭环，覆盖企业→治理→实控人→主营→融资→财务→授信→结论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273552"/>
            <a:ext cx="4251960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59" y="226771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D4A843"/>
                </a:solidFill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799" y="226771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</a:defRPr>
            </a:pPr>
            <a:r>
              <a:t>Word 报告生成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799" y="2615184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8C"/>
                </a:solidFill>
              </a:defRPr>
            </a:pPr>
            <a:r>
              <a:t>DocForge C# + OpenXML，信贷审查专用模板，风险雷达图+多表格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59" y="3273552"/>
            <a:ext cx="4251960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373075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05252"/>
                </a:solidFill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373075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</a:defRPr>
            </a:pPr>
            <a:r>
              <a:t>商务简约PPT技能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4078224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8C"/>
                </a:solidFill>
              </a:defRPr>
            </a:pPr>
            <a:r>
              <a:t>biz-minimal-ppt 融合商务+简约，支持多样化背景图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736592"/>
            <a:ext cx="4251960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59" y="373075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7B6D9E"/>
                </a:solidFill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799" y="373075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</a:defRPr>
            </a:pPr>
            <a:r>
              <a:t>Demo 演示与成果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799" y="4078224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8C"/>
                </a:solidFill>
              </a:defRPr>
            </a:pPr>
            <a:r>
              <a:t>上海赞禾英泰信贷审查报告 + 银行数字化转型PPT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09159" y="4736592"/>
            <a:ext cx="4251960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494233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C8C8C"/>
                </a:solidFill>
              </a:defRPr>
            </a:pPr>
            <a:r>
              <a:t>Source: CreditWiki | 2026年4月21日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数据接口方案：信号获取的稳定性挑战</a:t>
            </a:r>
          </a:p>
        </p:txBody>
      </p:sp>
      <p:sp>
        <p:nvSpPr>
          <p:cNvPr id="4" name="Oval 3"/>
          <p:cNvSpPr/>
          <p:nvPr/>
        </p:nvSpPr>
        <p:spPr>
          <a:xfrm>
            <a:off x="8641080" y="4640580"/>
            <a:ext cx="365760" cy="365760"/>
          </a:xfrm>
          <a:prstGeom prst="ellipse">
            <a:avLst/>
          </a:prstGeom>
          <a:solidFill>
            <a:srgbClr val="1B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68512" y="468630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38912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AB5"/>
                </a:solidFill>
              </a:defRPr>
            </a:pPr>
            <a:r>
              <a:t>东财反爬阻断后，成功切换新浪财经 HQ API 实现稳定获取，破解核心瓶颈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804672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C8C8C"/>
                </a:solidFill>
              </a:defRPr>
            </a:pPr>
            <a:r>
              <a:t>方案对比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3931920" cy="7132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51560"/>
            <a:ext cx="45720" cy="713232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106424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05252"/>
                </a:solidFill>
              </a:defRPr>
            </a:pPr>
            <a:r>
              <a:t>❌ 方案A：东方财富 akshare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37160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</a:defRPr>
            </a:pPr>
            <a:r>
              <a:t>akshare 直接调用东财接口，被反爬机制阻断，数据获取不稳定，频繁失败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856231"/>
            <a:ext cx="3931920" cy="7132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856231"/>
            <a:ext cx="45720" cy="713232"/>
          </a:xfrm>
          <a:prstGeom prst="rect">
            <a:avLst/>
          </a:prstGeom>
          <a:solidFill>
            <a:srgbClr val="3AA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1911095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AAF6C"/>
                </a:solidFill>
              </a:defRPr>
            </a:pPr>
            <a:r>
              <a:t>✅ 方案B：新浪财经 HQ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217627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</a:defRPr>
            </a:pPr>
            <a:r>
              <a:t>hq.sinajs.cn 接口，GBK 解码，支持沪深全量股票，支持兴业、招行等银行实时行情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278892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C8C8C"/>
                </a:solidFill>
              </a:defRPr>
            </a:pPr>
            <a:r>
              <a:t>集成数据源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035808"/>
            <a:ext cx="1307592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3054096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数据源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81912" y="3035808"/>
            <a:ext cx="1307592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1" y="3054096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数据类型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89503" y="3035808"/>
            <a:ext cx="1307592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35224" y="3054096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状态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310128"/>
            <a:ext cx="3931920" cy="31089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334670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</a:defRPr>
            </a:pPr>
            <a:r>
              <a:t>新浪财经 HQ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27632" y="334670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</a:defRPr>
            </a:pPr>
            <a:r>
              <a:t>实时行情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3346704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AAF6C"/>
                </a:solidFill>
              </a:defRPr>
            </a:pPr>
            <a:r>
              <a:t>✅ 稳定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639312"/>
            <a:ext cx="393192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3675887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</a:defRPr>
            </a:pPr>
            <a:r>
              <a:t>Tushare Pro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27632" y="3675887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</a:defRPr>
            </a:pPr>
            <a:r>
              <a:t>PE/PB/财务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3675887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AAF6C"/>
                </a:solidFill>
              </a:defRPr>
            </a:pPr>
            <a:r>
              <a:t>✅ 稳定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968496"/>
            <a:ext cx="3931920" cy="31089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00507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</a:defRPr>
            </a:pPr>
            <a:r>
              <a:t>Bing 搜索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27632" y="400507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</a:defRPr>
            </a:pPr>
            <a:r>
              <a:t>公开信息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4005072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4A843"/>
                </a:solidFill>
              </a:defRPr>
            </a:pPr>
            <a:r>
              <a:t>⚠️ 辅助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297680"/>
            <a:ext cx="393192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433425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</a:defRPr>
            </a:pPr>
            <a:r>
              <a:t>爱企查/天眼查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27632" y="433425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</a:defRPr>
            </a:pPr>
            <a:r>
              <a:t>工商信息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0" y="4334256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05252"/>
                </a:solidFill>
              </a:defRPr>
            </a:pPr>
            <a:r>
              <a:t>❌ 需付费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80467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C8C8C"/>
                </a:solidFill>
              </a:defRPr>
            </a:pPr>
            <a:r>
              <a:t>数据流程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0" y="1143000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📡 新浪财经 HQ API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75120" y="1508760"/>
            <a:ext cx="45720" cy="201168"/>
          </a:xfrm>
          <a:prstGeom prst="rect">
            <a:avLst/>
          </a:prstGeom>
          <a:solidFill>
            <a:srgbClr val="1B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663440" y="1709928"/>
            <a:ext cx="402336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63440" y="1709928"/>
            <a:ext cx="45720" cy="457200"/>
          </a:xfrm>
          <a:prstGeom prst="rect">
            <a:avLst/>
          </a:prstGeom>
          <a:solidFill>
            <a:srgbClr val="1B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54880" y="1801368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</a:defRPr>
            </a:pPr>
            <a:r>
              <a:t>🔧 Python 解析脚本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75120" y="2167128"/>
            <a:ext cx="45720" cy="201168"/>
          </a:xfrm>
          <a:prstGeom prst="rect">
            <a:avLst/>
          </a:prstGeom>
          <a:solidFill>
            <a:srgbClr val="1B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663440" y="2368296"/>
            <a:ext cx="402336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54880" y="2459736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📊 字段：代码·名称·现价·涨跌·成交量·市值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75120" y="2825496"/>
            <a:ext cx="45720" cy="201168"/>
          </a:xfrm>
          <a:prstGeom prst="rect">
            <a:avLst/>
          </a:prstGeom>
          <a:solidFill>
            <a:srgbClr val="1B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663440" y="3026664"/>
            <a:ext cx="402336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663440" y="3026664"/>
            <a:ext cx="45720" cy="457200"/>
          </a:xfrm>
          <a:prstGeom prst="rect">
            <a:avLst/>
          </a:prstGeom>
          <a:solidFill>
            <a:srgbClr val="1B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54880" y="3118104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</a:defRPr>
            </a:pPr>
            <a:r>
              <a:t>📈 Tushare 补充财务数据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675120" y="3483864"/>
            <a:ext cx="45720" cy="201168"/>
          </a:xfrm>
          <a:prstGeom prst="rect">
            <a:avLst/>
          </a:prstGeom>
          <a:solidFill>
            <a:srgbClr val="1B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663440" y="3685031"/>
            <a:ext cx="4023360" cy="457200"/>
          </a:xfrm>
          <a:prstGeom prst="rect">
            <a:avLst/>
          </a:prstGeom>
          <a:solidFill>
            <a:srgbClr val="3AA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54880" y="3776471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🤖 AI 分析引擎（Hermes）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675120" y="4142231"/>
            <a:ext cx="45720" cy="201168"/>
          </a:xfrm>
          <a:prstGeom prst="rect">
            <a:avLst/>
          </a:prstGeom>
          <a:solidFill>
            <a:srgbClr val="1B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663440" y="4343400"/>
            <a:ext cx="402336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663440" y="4343400"/>
            <a:ext cx="45720" cy="457200"/>
          </a:xfrm>
          <a:prstGeom prst="rect">
            <a:avLst/>
          </a:prstGeom>
          <a:solidFill>
            <a:srgbClr val="1B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54880" y="4434840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</a:defRPr>
            </a:pPr>
            <a:r>
              <a:t>📄 报告生成（MD/WORD/PPT）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74320" y="494233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C8C8C"/>
                </a:solidFill>
              </a:defRPr>
            </a:pPr>
            <a:r>
              <a:t>Source: 技术方案 | 2026年4月21日 | 验证：兴业银行601166查询成功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信贷审查技能：8大模块闭环</a:t>
            </a:r>
          </a:p>
        </p:txBody>
      </p:sp>
      <p:sp>
        <p:nvSpPr>
          <p:cNvPr id="4" name="Oval 3"/>
          <p:cNvSpPr/>
          <p:nvPr/>
        </p:nvSpPr>
        <p:spPr>
          <a:xfrm>
            <a:off x="8641080" y="4640580"/>
            <a:ext cx="365760" cy="365760"/>
          </a:xfrm>
          <a:prstGeom prst="ellipse">
            <a:avLst/>
          </a:prstGeom>
          <a:solidFill>
            <a:srgbClr val="1B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68512" y="468630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38912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AB5"/>
                </a:solidFill>
              </a:defRPr>
            </a:pPr>
            <a:r>
              <a:t>覆盖企业信号获取到授信建议的全流程，第一性原理驱动结构化分析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804672"/>
            <a:ext cx="2103120" cy="126187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804672"/>
            <a:ext cx="2103120" cy="45720"/>
          </a:xfrm>
          <a:prstGeom prst="rect">
            <a:avLst/>
          </a:prstGeom>
          <a:solidFill>
            <a:srgbClr val="1B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9611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5AB5"/>
                </a:solidFill>
              </a:defRPr>
            </a:pPr>
            <a:r>
              <a:t>模块1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11556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</a:defRPr>
            </a:pPr>
            <a:r>
              <a:t>企业基本信息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399032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</a:defRPr>
            </a:pPr>
            <a:r>
              <a:t>工商信息·成立时间·注册资本·经营状态·所属行业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79" y="804672"/>
            <a:ext cx="2103120" cy="126187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68879" y="804672"/>
            <a:ext cx="2103120" cy="45720"/>
          </a:xfrm>
          <a:prstGeom prst="rect">
            <a:avLst/>
          </a:prstGeom>
          <a:solidFill>
            <a:srgbClr val="2E8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0" y="89611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8BC0"/>
                </a:solidFill>
              </a:defRPr>
            </a:pPr>
            <a:r>
              <a:t>模块2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111556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</a:defRPr>
            </a:pPr>
            <a:r>
              <a:t>公司治理结构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1399032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</a:defRPr>
            </a:pPr>
            <a:r>
              <a:t>股权结构·董事会构成·高管团队·关联企业·内控机制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804672"/>
            <a:ext cx="2103120" cy="126187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63440" y="804672"/>
            <a:ext cx="2103120" cy="45720"/>
          </a:xfrm>
          <a:prstGeom prst="rect">
            <a:avLst/>
          </a:prstGeom>
          <a:solidFill>
            <a:srgbClr val="3AA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79" y="89611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AF6C"/>
                </a:solidFill>
              </a:defRPr>
            </a:pPr>
            <a:r>
              <a:t>模块3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111556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</a:defRPr>
            </a:pPr>
            <a:r>
              <a:t>实控人分析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79" y="1399032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</a:defRPr>
            </a:pPr>
            <a:r>
              <a:t>穿透核查·股权穿透图·背景调查·关联风险·政治风险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7999" y="804672"/>
            <a:ext cx="2103120" cy="126187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7999" y="804672"/>
            <a:ext cx="2103120" cy="45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39" y="89611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4A843"/>
                </a:solidFill>
              </a:defRPr>
            </a:pPr>
            <a:r>
              <a:t>模块4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39" y="111556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</a:defRPr>
            </a:pPr>
            <a:r>
              <a:t>主营业务分析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39" y="1399032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</a:defRPr>
            </a:pPr>
            <a:r>
              <a:t>业务结构·收入占比·核心竞争力·行业地位·盈利模式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176272"/>
            <a:ext cx="2103120" cy="126187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2176272"/>
            <a:ext cx="2103120" cy="45720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226771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5252"/>
                </a:solidFill>
              </a:defRPr>
            </a:pPr>
            <a:r>
              <a:t>模块5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248716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</a:defRPr>
            </a:pPr>
            <a:r>
              <a:t>融资与对外担保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2770632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</a:defRPr>
            </a:pPr>
            <a:r>
              <a:t>银行贷款·债券·非标·担保余额·授信额度·用信比例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68879" y="2176272"/>
            <a:ext cx="2103120" cy="126187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468879" y="2176272"/>
            <a:ext cx="2103120" cy="45720"/>
          </a:xfrm>
          <a:prstGeom prst="rect">
            <a:avLst/>
          </a:prstGeom>
          <a:solidFill>
            <a:srgbClr val="7B6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60320" y="226771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B6D9E"/>
                </a:solidFill>
              </a:defRPr>
            </a:pPr>
            <a:r>
              <a:t>模块6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60320" y="248716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</a:defRPr>
            </a:pPr>
            <a:r>
              <a:t>财务分析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60320" y="2770632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</a:defRPr>
            </a:pPr>
            <a:r>
              <a:t>资产负债表·利润表·现金流量·偿债能力·周转效率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63440" y="2176272"/>
            <a:ext cx="2103120" cy="126187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663440" y="2176272"/>
            <a:ext cx="2103120" cy="45720"/>
          </a:xfrm>
          <a:prstGeom prst="rect">
            <a:avLst/>
          </a:prstGeom>
          <a:solidFill>
            <a:srgbClr val="1B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4879" y="226771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5AB5"/>
                </a:solidFill>
              </a:defRPr>
            </a:pPr>
            <a:r>
              <a:t>模块7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79" y="248716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</a:defRPr>
            </a:pPr>
            <a:r>
              <a:t>授信方案建议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79" y="2770632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</a:defRPr>
            </a:pPr>
            <a:r>
              <a:t>额度建议·期限结构·利率定价·担保要求·用途管控·贷后管理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7999" y="2176272"/>
            <a:ext cx="2103120" cy="126187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857999" y="2176272"/>
            <a:ext cx="2103120" cy="45720"/>
          </a:xfrm>
          <a:prstGeom prst="rect">
            <a:avLst/>
          </a:prstGeom>
          <a:solidFill>
            <a:srgbClr val="2E8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49439" y="226771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8BC0"/>
                </a:solidFill>
              </a:defRPr>
            </a:pPr>
            <a:r>
              <a:t>模块8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39" y="248716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</a:defRPr>
            </a:pPr>
            <a:r>
              <a:t>审查结论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39" y="2770632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</a:defRPr>
            </a:pPr>
            <a:r>
              <a:t>综合评分·风险等级·有条件推荐·否决·需补充材料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3611880"/>
            <a:ext cx="8595360" cy="8046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3675887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A843"/>
                </a:solidFill>
              </a:defRPr>
            </a:pPr>
            <a:r>
              <a:t>📌 实战案例：上海赞禾英泰信息科技股份有限公司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3977639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通过credit-review技能完成全流程分析：综合评分 4.2/10（中高风险），建议强化担保措施。报告已生成Word格式（9.2KB）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494233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C8C8C"/>
                </a:solidFill>
              </a:defRPr>
            </a:pPr>
            <a:r>
              <a:t>Source: CreditWiki | 2026年4月21日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Word 报告生成：DocForge + OpenXML</a:t>
            </a:r>
          </a:p>
        </p:txBody>
      </p:sp>
      <p:sp>
        <p:nvSpPr>
          <p:cNvPr id="4" name="Oval 3"/>
          <p:cNvSpPr/>
          <p:nvPr/>
        </p:nvSpPr>
        <p:spPr>
          <a:xfrm>
            <a:off x="8641080" y="4640580"/>
            <a:ext cx="365760" cy="365760"/>
          </a:xfrm>
          <a:prstGeom prst="ellipse">
            <a:avLst/>
          </a:prstGeom>
          <a:solidFill>
            <a:srgbClr val="1B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68512" y="468630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38912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AB5"/>
                </a:solidFill>
              </a:defRPr>
            </a:pPr>
            <a:r>
              <a:t>DocForge C# 项目完成 net10.0 适配，信贷审查专用模板已注册，首份报告已产出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804672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C8C8C"/>
                </a:solidFill>
              </a:defRPr>
            </a:pPr>
            <a:r>
              <a:t>技术架构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3931920" cy="7132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51560"/>
            <a:ext cx="45720" cy="713232"/>
          </a:xfrm>
          <a:prstGeom prst="rect">
            <a:avLst/>
          </a:prstGeom>
          <a:solidFill>
            <a:srgbClr val="1B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106424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AB5"/>
                </a:solidFill>
              </a:defRPr>
            </a:pPr>
            <a:r>
              <a:t>DocForge C# 项目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37160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</a:defRPr>
            </a:pPr>
            <a:r>
              <a:t>基于 .NET + OpenXML SDK 生成标准 .docx 文件，支持页眉页脚、表格、图表、样式模板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856231"/>
            <a:ext cx="3931920" cy="7132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856231"/>
            <a:ext cx="45720" cy="713232"/>
          </a:xfrm>
          <a:prstGeom prst="rect">
            <a:avLst/>
          </a:prstGeom>
          <a:solidFill>
            <a:srgbClr val="2E8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1911095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8BC0"/>
                </a:solidFill>
              </a:defRPr>
            </a:pPr>
            <a:r>
              <a:t>CreditReviewReport 模板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217627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</a:defRPr>
            </a:pPr>
            <a:r>
              <a:t>信贷审查专用样式：封面（含Logo位+风险等级标签）+ 风险雷达图 + 多表格 + 结论页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660904"/>
            <a:ext cx="3931920" cy="7132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660904"/>
            <a:ext cx="45720" cy="713232"/>
          </a:xfrm>
          <a:prstGeom prst="rect">
            <a:avLst/>
          </a:prstGeom>
          <a:solidFill>
            <a:srgbClr val="3AA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2715768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AAF6C"/>
                </a:solidFill>
              </a:defRPr>
            </a:pPr>
            <a:r>
              <a:t>Program.cs 分支注册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2980944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</a:defRPr>
            </a:pPr>
            <a:r>
              <a:t>RunCreditReview() 函数已注册至 Program.cs，命令行分支 'credit-review' 已激活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352044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C8C8C"/>
                </a:solidFill>
              </a:defRPr>
            </a:pPr>
            <a:r>
              <a:t>修复历程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767328"/>
            <a:ext cx="1965960" cy="237744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785615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问题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40279" y="3767328"/>
            <a:ext cx="1965960" cy="237744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86000" y="3785615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修复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023360"/>
            <a:ext cx="3931920" cy="274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405993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</a:defRPr>
            </a:pPr>
            <a:r>
              <a:t>net9.0 vs net10.0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8840" y="405993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AF6C"/>
                </a:solidFill>
              </a:defRPr>
            </a:pPr>
            <a:r>
              <a:t>DocForge.csproj → net10.0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315968"/>
            <a:ext cx="39319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435254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</a:defRPr>
            </a:pPr>
            <a:r>
              <a:t>HeaderCell() 返回类型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48840" y="435254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AF6C"/>
                </a:solidFill>
              </a:defRPr>
            </a:pPr>
            <a:r>
              <a:t>TableRow → TableCell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608576"/>
            <a:ext cx="3931920" cy="274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6451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</a:defRPr>
            </a:pPr>
            <a:r>
              <a:t>DataCell() 返回类型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48840" y="464515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AF6C"/>
                </a:solidFill>
              </a:defRPr>
            </a:pPr>
            <a:r>
              <a:t>TableRow → TableCell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80467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C8C8C"/>
                </a:solidFill>
              </a:defRPr>
            </a:pPr>
            <a:r>
              <a:t>生成命令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63440" y="1051560"/>
            <a:ext cx="4023360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00600" y="1097280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</a:defRPr>
            </a:pPr>
            <a:r>
              <a:t>dotnet run --project DocForge.csproj</a:t>
            </a:r>
            <a:br/>
            <a:r>
              <a:t>-- credit-review</a:t>
            </a:r>
            <a:br/>
            <a:r>
              <a:t>&lt;output.docx&gt; &lt;source.md&gt;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2029968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C8C8C"/>
                </a:solidFill>
              </a:defRPr>
            </a:pPr>
            <a:r>
              <a:t>输出成果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63440" y="2286000"/>
            <a:ext cx="4023360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663440" y="2286000"/>
            <a:ext cx="45720" cy="64008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73168" y="2350008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2D2D"/>
                </a:solidFill>
              </a:defRPr>
            </a:pPr>
            <a:r>
              <a:t>信贷审查_上海赞禾英泰...20260421.docx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73168" y="259689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</a:defRPr>
            </a:pPr>
            <a:r>
              <a:t>9.2KB · 已验证可打开 · 包含8模块完整内容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63440" y="3017520"/>
            <a:ext cx="4023360" cy="5669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663440" y="3017520"/>
            <a:ext cx="45720" cy="566928"/>
          </a:xfrm>
          <a:prstGeom prst="rect">
            <a:avLst/>
          </a:prstGeom>
          <a:solidFill>
            <a:srgbClr val="3AA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73168" y="3072384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2D2D"/>
                </a:solidFill>
              </a:defRPr>
            </a:pPr>
            <a:r>
              <a:t>文件路径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73168" y="32735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</a:defRPr>
            </a:pPr>
            <a:r>
              <a:t>/Users/bismarck/KnowledgeBase/CreditWiki/outputs/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494233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C8C8C"/>
                </a:solidFill>
              </a:defRPr>
            </a:pPr>
            <a:r>
              <a:t>Source: CreditWiki | 2026年4月21日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商务简约融合风 PPT 技能</a:t>
            </a:r>
          </a:p>
        </p:txBody>
      </p:sp>
      <p:sp>
        <p:nvSpPr>
          <p:cNvPr id="4" name="Oval 3"/>
          <p:cNvSpPr/>
          <p:nvPr/>
        </p:nvSpPr>
        <p:spPr>
          <a:xfrm>
            <a:off x="8641080" y="4640580"/>
            <a:ext cx="365760" cy="365760"/>
          </a:xfrm>
          <a:prstGeom prst="ellipse">
            <a:avLst/>
          </a:prstGeom>
          <a:solidFill>
            <a:srgbClr val="1B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68512" y="468630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38912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AB5"/>
                </a:solidFill>
              </a:defRPr>
            </a:pPr>
            <a:r>
              <a:t>biz-minimal-ppt 技能：聚合商务专业感与简约现代感，多样化背景图片（核心差异化）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804672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C8C8C"/>
                </a:solidFill>
              </a:defRPr>
            </a:pPr>
            <a:r>
              <a:t>风格融合：商务 × 简约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978408" cy="237744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" y="10698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维度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52728" y="1051560"/>
            <a:ext cx="978408" cy="237744"/>
          </a:xfrm>
          <a:prstGeom prst="rect">
            <a:avLst/>
          </a:prstGeom>
          <a:solidFill>
            <a:srgbClr val="1B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10698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商务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31136" y="1051560"/>
            <a:ext cx="978408" cy="237744"/>
          </a:xfrm>
          <a:prstGeom prst="rect">
            <a:avLst/>
          </a:prstGeom>
          <a:solidFill>
            <a:srgbClr val="1B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58568" y="10698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简约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9544" y="1051560"/>
            <a:ext cx="978408" cy="237744"/>
          </a:xfrm>
          <a:prstGeom prst="rect">
            <a:avLst/>
          </a:prstGeom>
          <a:solidFill>
            <a:srgbClr val="1B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10698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融合结果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307592"/>
            <a:ext cx="978408" cy="2926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" y="13441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2D2D"/>
                </a:solidFill>
              </a:defRPr>
            </a:pPr>
            <a:r>
              <a:t>色彩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52728" y="1307592"/>
            <a:ext cx="978408" cy="2926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13441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2D2D"/>
                </a:solidFill>
              </a:defRPr>
            </a:pPr>
            <a:r>
              <a:t>深蓝/藏青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31136" y="1307592"/>
            <a:ext cx="978408" cy="2926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58568" y="13441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2D2D"/>
                </a:solidFill>
              </a:defRPr>
            </a:pPr>
            <a:r>
              <a:t>大量留白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9544" y="1307592"/>
            <a:ext cx="978408" cy="2926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36976" y="13441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B5AB5"/>
                </a:solidFill>
              </a:defRPr>
            </a:pPr>
            <a:r>
              <a:t>藏青+纯白+灰调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1618488"/>
            <a:ext cx="97840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1752" y="16550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2D2D"/>
                </a:solidFill>
              </a:defRPr>
            </a:pPr>
            <a:r>
              <a:t>布局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52728" y="1618488"/>
            <a:ext cx="97840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0" y="16550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2D2D"/>
                </a:solidFill>
              </a:defRPr>
            </a:pPr>
            <a:r>
              <a:t>信息密集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31136" y="1618488"/>
            <a:ext cx="97840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58568" y="16550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2D2D"/>
                </a:solidFill>
              </a:defRPr>
            </a:pPr>
            <a:r>
              <a:t>宽松留白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9544" y="1618488"/>
            <a:ext cx="97840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36976" y="16550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E8BC0"/>
                </a:solidFill>
              </a:defRPr>
            </a:pPr>
            <a:r>
              <a:t>卡片+左重右轻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1929384"/>
            <a:ext cx="978408" cy="2926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1752" y="1965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2D2D"/>
                </a:solidFill>
              </a:defRPr>
            </a:pPr>
            <a:r>
              <a:t>背景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52728" y="1929384"/>
            <a:ext cx="978408" cy="2926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1965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2D2D"/>
                </a:solidFill>
              </a:defRPr>
            </a:pPr>
            <a:r>
              <a:t>纯色/渐变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31136" y="1929384"/>
            <a:ext cx="978408" cy="2926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58568" y="1965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2D2D"/>
                </a:solidFill>
              </a:defRPr>
            </a:pPr>
            <a:r>
              <a:t>大量留白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9544" y="1929384"/>
            <a:ext cx="978408" cy="2926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1965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3AAF6C"/>
                </a:solidFill>
              </a:defRPr>
            </a:pPr>
            <a:r>
              <a:t>✅多样化背景图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2240280"/>
            <a:ext cx="97840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1752" y="227685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2D2D"/>
                </a:solidFill>
              </a:defRPr>
            </a:pPr>
            <a:r>
              <a:t>视觉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52728" y="2240280"/>
            <a:ext cx="97840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80160" y="227685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2D2D"/>
                </a:solidFill>
              </a:defRPr>
            </a:pPr>
            <a:r>
              <a:t>数据图表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31136" y="2240280"/>
            <a:ext cx="97840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58568" y="227685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2D2D"/>
                </a:solidFill>
              </a:defRPr>
            </a:pPr>
            <a:r>
              <a:t>图形化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9544" y="2240280"/>
            <a:ext cx="97840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36976" y="227685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D4A843"/>
                </a:solidFill>
              </a:defRPr>
            </a:pPr>
            <a:r>
              <a:t>图表+图标双驱动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" y="260604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C8C8C"/>
                </a:solidFill>
              </a:defRPr>
            </a:pPr>
            <a:r>
              <a:t>背景图策略（关键差异化）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2862072"/>
            <a:ext cx="3931920" cy="5943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74320" y="2862072"/>
            <a:ext cx="45720" cy="594360"/>
          </a:xfrm>
          <a:prstGeom prst="rect">
            <a:avLst/>
          </a:prstGeom>
          <a:solidFill>
            <a:srgbClr val="1B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4048" y="2916936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AB5"/>
                </a:solidFill>
              </a:defRPr>
            </a:pPr>
            <a:r>
              <a:t>方案A：Unsplash Source（推荐）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048" y="3136391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</a:defRPr>
            </a:pPr>
            <a:r>
              <a:t>抽象几何/城市建筑/渐变色块，关键词随机，无需API Key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3520439"/>
            <a:ext cx="3931920" cy="5943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74320" y="3520439"/>
            <a:ext cx="45720" cy="594360"/>
          </a:xfrm>
          <a:prstGeom prst="rect">
            <a:avLst/>
          </a:prstGeom>
          <a:solidFill>
            <a:srgbClr val="2E8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84048" y="3575303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8BC0"/>
                </a:solidFill>
              </a:defRPr>
            </a:pPr>
            <a:r>
              <a:t>方案B：Picsum Photos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4048" y="3794759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</a:defRPr>
            </a:pPr>
            <a:r>
              <a:t>随机但固定种子，风景/纹理/建筑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4178808"/>
            <a:ext cx="3931920" cy="5943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74320" y="4178808"/>
            <a:ext cx="45720" cy="594360"/>
          </a:xfrm>
          <a:prstGeom prst="rect">
            <a:avLst/>
          </a:prstGeom>
          <a:solidFill>
            <a:srgbClr val="3AA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84048" y="4233672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AAF6C"/>
                </a:solidFill>
              </a:defRPr>
            </a:pPr>
            <a:r>
              <a:t>方案C：程序渐变（零依赖）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4048" y="445312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</a:defRPr>
            </a:pPr>
            <a:r>
              <a:t>Pillow 生成垂直渐变（藏青→钢蓝），离线可用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63440" y="80467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C8C8C"/>
                </a:solidFill>
              </a:defRPr>
            </a:pPr>
            <a:r>
              <a:t>9种幻灯片类型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63440" y="1051560"/>
            <a:ext cx="1298448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36592" y="1106424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AB5"/>
                </a:solidFill>
              </a:defRPr>
            </a:pPr>
            <a:r>
              <a:t>封面页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36592" y="1344168"/>
            <a:ext cx="1170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8C8C8C"/>
                </a:solidFill>
              </a:defRPr>
            </a:pPr>
            <a:r>
              <a:t>深色渐变背景+居中大标题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035040" y="1051560"/>
            <a:ext cx="1298448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08192" y="1106424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8BC0"/>
                </a:solidFill>
              </a:defRPr>
            </a:pPr>
            <a:r>
              <a:t>目录页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08192" y="1344168"/>
            <a:ext cx="1170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8C8C8C"/>
                </a:solidFill>
              </a:defRPr>
            </a:pPr>
            <a:r>
              <a:t>左侧藏青色块+章节列表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406640" y="1051560"/>
            <a:ext cx="1298448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479792" y="1106424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AAF6C"/>
                </a:solidFill>
              </a:defRPr>
            </a:pPr>
            <a:r>
              <a:t>左重右轻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79792" y="1344168"/>
            <a:ext cx="1170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8C8C8C"/>
                </a:solidFill>
              </a:defRPr>
            </a:pPr>
            <a:r>
              <a:t>要点+右侧数据卡片/图表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663440" y="1920239"/>
            <a:ext cx="1298448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736592" y="1975103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843"/>
                </a:solidFill>
              </a:defRPr>
            </a:pPr>
            <a:r>
              <a:t>卡片式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36592" y="2212847"/>
            <a:ext cx="1170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8C8C8C"/>
                </a:solidFill>
              </a:defRPr>
            </a:pPr>
            <a:r>
              <a:t>多色图标卡片网格(2~6张)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035040" y="1920239"/>
            <a:ext cx="1298448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08192" y="1975103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05252"/>
                </a:solidFill>
              </a:defRPr>
            </a:pPr>
            <a:r>
              <a:t>图表页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08192" y="2212847"/>
            <a:ext cx="1170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8C8C8C"/>
                </a:solidFill>
              </a:defRPr>
            </a:pPr>
            <a:r>
              <a:t>模拟柱状图+来源注释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406640" y="1920239"/>
            <a:ext cx="1298448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479792" y="1975103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B6D9E"/>
                </a:solidFill>
              </a:defRPr>
            </a:pPr>
            <a:r>
              <a:t>大数字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79792" y="2212847"/>
            <a:ext cx="1170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8C8C8C"/>
                </a:solidFill>
              </a:defRPr>
            </a:pPr>
            <a:r>
              <a:t>深色背景+金橙色大数字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663440" y="2788920"/>
            <a:ext cx="1298448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736592" y="2843784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AB5"/>
                </a:solidFill>
              </a:defRPr>
            </a:pPr>
            <a:r>
              <a:t>对比页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736592" y="3081527"/>
            <a:ext cx="1170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8C8C8C"/>
                </a:solidFill>
              </a:defRPr>
            </a:pPr>
            <a:r>
              <a:t>双栏VS样式卡片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035040" y="2788920"/>
            <a:ext cx="1298448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108192" y="2843784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8BC0"/>
                </a:solidFill>
              </a:defRPr>
            </a:pPr>
            <a:r>
              <a:t>时间轴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108192" y="3081527"/>
            <a:ext cx="1170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8C8C8C"/>
                </a:solidFill>
              </a:defRPr>
            </a:pPr>
            <a:r>
              <a:t>横向节点流程图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63440" y="3730752"/>
            <a:ext cx="4114800" cy="6400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736592" y="3794760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843"/>
                </a:solidFill>
              </a:defRPr>
            </a:pPr>
            <a:r>
              <a:t>总结页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736592" y="404164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深色背景+勾选要点+结论框（与封面呼应）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63440" y="4462272"/>
            <a:ext cx="4114800" cy="5669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663440" y="4462272"/>
            <a:ext cx="45720" cy="566928"/>
          </a:xfrm>
          <a:prstGeom prst="rect">
            <a:avLst/>
          </a:prstGeom>
          <a:solidFill>
            <a:srgbClr val="1B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73168" y="4517136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AB5"/>
                </a:solidFill>
              </a:defRPr>
            </a:pPr>
            <a:r>
              <a:t>Demo 验证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773168" y="472744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</a:defRPr>
            </a:pPr>
            <a:r>
              <a:t>银行数字化转型报告 PPT · 8页 · 45KB · 路径：CreditWiki/outputs/</a:t>
            </a:r>
          </a:p>
        </p:txBody>
      </p:sp>
      <p:sp>
        <p:nvSpPr>
          <p:cNvPr id="93" name="Rectangle 9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74320" y="494233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C8C8C"/>
                </a:solidFill>
              </a:defRPr>
            </a:pPr>
            <a:r>
              <a:t>Source: CreditWiki | 2026年4月21日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完整工具链架构</a:t>
            </a:r>
          </a:p>
        </p:txBody>
      </p:sp>
      <p:sp>
        <p:nvSpPr>
          <p:cNvPr id="4" name="Oval 3"/>
          <p:cNvSpPr/>
          <p:nvPr/>
        </p:nvSpPr>
        <p:spPr>
          <a:xfrm>
            <a:off x="8641080" y="4640580"/>
            <a:ext cx="365760" cy="365760"/>
          </a:xfrm>
          <a:prstGeom prst="ellipse">
            <a:avLst/>
          </a:prstGeom>
          <a:solidFill>
            <a:srgbClr val="1B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68512" y="468630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38912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AB5"/>
                </a:solidFill>
              </a:defRPr>
            </a:pPr>
            <a:r>
              <a:t>从信号获取 → AI分析 → 多格式报告 → 知识库归档，全流程自动化闭环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804672"/>
            <a:ext cx="2103120" cy="658368"/>
          </a:xfrm>
          <a:prstGeom prst="rect">
            <a:avLst/>
          </a:prstGeom>
          <a:solidFill>
            <a:srgbClr val="1B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85039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📡 信号获取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152144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0"/>
                </a:solidFill>
              </a:defRPr>
            </a:pPr>
            <a:r>
              <a:t>新浪财经 HQ API</a:t>
            </a:r>
            <a:br/>
            <a:r>
              <a:t>Tushare 财务数据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7" y="98755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5AB5"/>
                </a:solidFill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05456" y="804672"/>
            <a:ext cx="2103120" cy="658368"/>
          </a:xfrm>
          <a:prstGeom prst="rect">
            <a:avLst/>
          </a:prstGeom>
          <a:solidFill>
            <a:srgbClr val="2E8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78608" y="85039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🤖 AI 分析引擎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8608" y="1152144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0"/>
                </a:solidFill>
              </a:defRPr>
            </a:pPr>
            <a:r>
              <a:t>Hermes Agent</a:t>
            </a:r>
            <a:br/>
            <a:r>
              <a:t>第一性原理+辩证思维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98755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8BC0"/>
                </a:solidFill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36592" y="804672"/>
            <a:ext cx="2103120" cy="658368"/>
          </a:xfrm>
          <a:prstGeom prst="rect">
            <a:avLst/>
          </a:prstGeom>
          <a:solidFill>
            <a:srgbClr val="3AA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9744" y="85039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📋 报告生成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9744" y="1152144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0"/>
                </a:solidFill>
              </a:defRPr>
            </a:pPr>
            <a:r>
              <a:t>Markdown · Word · PPT</a:t>
            </a:r>
            <a:br/>
            <a:r>
              <a:t>DocForge + python-pptx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8755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AAF6C"/>
                </a:solidFill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67728" y="804672"/>
            <a:ext cx="2103120" cy="658368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85039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📚 知识库归档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1152144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0"/>
                </a:solidFill>
              </a:defRPr>
            </a:pPr>
            <a:r>
              <a:t>CreditWiki</a:t>
            </a:r>
            <a:br/>
            <a:r>
              <a:t>/KnowledgeBase/CreditWiki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1572768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C8C8C"/>
                </a:solidFill>
              </a:defRPr>
            </a:pPr>
            <a:r>
              <a:t>核心技能矩阵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828800"/>
            <a:ext cx="2103120" cy="1188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1828800"/>
            <a:ext cx="2103120" cy="45720"/>
          </a:xfrm>
          <a:prstGeom prst="rect">
            <a:avLst/>
          </a:prstGeom>
          <a:solidFill>
            <a:srgbClr val="1B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1901952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AB5"/>
                </a:solidFill>
              </a:defRPr>
            </a:pPr>
            <a:r>
              <a:t>credit-review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216712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2D2D2D"/>
                </a:solidFill>
              </a:defRPr>
            </a:pPr>
            <a:r>
              <a:t>银行信贷审查技能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2414016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</a:defRPr>
            </a:pPr>
            <a:r>
              <a:t>8大模块 · 上市公司与非上市公司双模式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05456" y="1828800"/>
            <a:ext cx="2103120" cy="1188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505456" y="1828800"/>
            <a:ext cx="2103120" cy="45720"/>
          </a:xfrm>
          <a:prstGeom prst="rect">
            <a:avLst/>
          </a:prstGeom>
          <a:solidFill>
            <a:srgbClr val="2E8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96896" y="1901952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BC0"/>
                </a:solidFill>
              </a:defRPr>
            </a:pPr>
            <a:r>
              <a:t>url-to-knowledge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96896" y="216712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2D2D2D"/>
                </a:solidFill>
              </a:defRPr>
            </a:pPr>
            <a:r>
              <a:t>链接→知识库归档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96896" y="2414016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</a:defRPr>
            </a:pPr>
            <a:r>
              <a:t>抓取→分析→归档，双写新旧知识库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36592" y="1828800"/>
            <a:ext cx="2103120" cy="1188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736592" y="1828800"/>
            <a:ext cx="2103120" cy="45720"/>
          </a:xfrm>
          <a:prstGeom prst="rect">
            <a:avLst/>
          </a:prstGeom>
          <a:solidFill>
            <a:srgbClr val="3AA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28031" y="1901952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AAF6C"/>
                </a:solidFill>
              </a:defRPr>
            </a:pPr>
            <a:r>
              <a:t>biz-minimal-ppt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28031" y="216712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2D2D2D"/>
                </a:solidFill>
              </a:defRPr>
            </a:pPr>
            <a:r>
              <a:t>商务简约风PPT生成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28031" y="2414016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</a:defRPr>
            </a:pPr>
            <a:r>
              <a:t>多样化背景图 · 9种幻灯片类型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67728" y="1828800"/>
            <a:ext cx="2103120" cy="1188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967728" y="1828800"/>
            <a:ext cx="2103120" cy="45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59168" y="1901952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A843"/>
                </a:solidFill>
              </a:defRPr>
            </a:pPr>
            <a:r>
              <a:t>minimax-docx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9168" y="216712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2D2D2D"/>
                </a:solidFill>
              </a:defRPr>
            </a:pPr>
            <a:r>
              <a:t>Word文档生成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59168" y="2414016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</a:defRPr>
            </a:pPr>
            <a:r>
              <a:t>DocForge C# · OpenXML · 信贷专用模板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3127248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C8C8C"/>
                </a:solidFill>
              </a:defRPr>
            </a:pPr>
            <a:r>
              <a:t>今日输出成果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383280"/>
            <a:ext cx="2103120" cy="12344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34747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1B5AB5"/>
                </a:solidFill>
              </a:defRPr>
            </a:pPr>
            <a:r>
              <a:t>📄 Markdown 信贷审查_上海赞禾英泰..._20260421.md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37947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</a:defRPr>
            </a:pPr>
            <a:r>
              <a:t>CreditWiki/outputs/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05456" y="3383280"/>
            <a:ext cx="2103120" cy="12344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96896" y="34747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2E8BC0"/>
                </a:solidFill>
              </a:defRPr>
            </a:pPr>
            <a:r>
              <a:t>📝 Word 信贷审查_上海赞禾英泰..._20260421.docx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96896" y="37947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</a:defRPr>
            </a:pPr>
            <a:r>
              <a:t>9.2KB · DocForge生成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36592" y="3383280"/>
            <a:ext cx="2103120" cy="12344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28031" y="34747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3AAF6C"/>
                </a:solidFill>
              </a:defRPr>
            </a:pPr>
            <a:r>
              <a:t>📊 PPT 银行数字化转型报告_Demo.pptx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28031" y="37947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</a:defRPr>
            </a:pPr>
            <a:r>
              <a:t>45KB · biz-minimal-ppt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67728" y="3383280"/>
            <a:ext cx="2103120" cy="12344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59168" y="34747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</a:defRPr>
            </a:pPr>
            <a:r>
              <a:t>🏆 本PPT 知识库构建总结_麦肯锡风格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59168" y="37947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10页 · CreditWiki/outputs/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" y="494233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C8C8C"/>
                </a:solidFill>
              </a:defRPr>
            </a:pPr>
            <a:r>
              <a:t>Source: CreditWiki | 2026年4月21日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核心洞察与方法论</a:t>
            </a:r>
          </a:p>
        </p:txBody>
      </p:sp>
      <p:sp>
        <p:nvSpPr>
          <p:cNvPr id="4" name="Oval 3"/>
          <p:cNvSpPr/>
          <p:nvPr/>
        </p:nvSpPr>
        <p:spPr>
          <a:xfrm>
            <a:off x="8641080" y="4640580"/>
            <a:ext cx="365760" cy="365760"/>
          </a:xfrm>
          <a:prstGeom prst="ellipse">
            <a:avLst/>
          </a:prstGeom>
          <a:solidFill>
            <a:srgbClr val="1B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68512" y="468630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38912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AB5"/>
                </a:solidFill>
              </a:defRPr>
            </a:pPr>
            <a:r>
              <a:t>从实践中提炼的三大原则：数据先行、工具链闭环、第一性原理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804672"/>
            <a:ext cx="54864" cy="35661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804672"/>
            <a:ext cx="2798064" cy="54864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86868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</a:defRPr>
            </a:pPr>
            <a:r>
              <a:t>洞察一：数据获取是根本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1170432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8C8C8C"/>
                </a:solidFill>
              </a:defRPr>
            </a:pPr>
            <a:r>
              <a:t>反爬困境中的替代方案思维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" y="1481328"/>
            <a:ext cx="2670048" cy="89611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554480"/>
            <a:ext cx="2542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05252"/>
                </a:solidFill>
              </a:defRPr>
            </a:pPr>
            <a:r>
              <a:t>❌ 单一依赖东财/akshare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1801368"/>
            <a:ext cx="25420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</a:defRPr>
            </a:pPr>
            <a:r>
              <a:t>被反爬阻断后无备用方案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" y="2468880"/>
            <a:ext cx="2670048" cy="89611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542032"/>
            <a:ext cx="2542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AAF6C"/>
                </a:solidFill>
              </a:defRPr>
            </a:pPr>
            <a:r>
              <a:t>✅ 多源冗余 + 降级策略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788920"/>
            <a:ext cx="25420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</a:defRPr>
            </a:pPr>
            <a:r>
              <a:t>新浪财经 HQ → Picsum → 渐变图片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" y="3456432"/>
            <a:ext cx="2670048" cy="89611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3529584"/>
            <a:ext cx="2542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AB5"/>
                </a:solidFill>
              </a:defRPr>
            </a:pPr>
            <a:r>
              <a:t>📌 原则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3776472"/>
            <a:ext cx="25420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</a:defRPr>
            </a:pPr>
            <a:r>
              <a:t>始终保留至少一层降级方案，网络图片失败时自动切换程序生成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18688" y="804672"/>
            <a:ext cx="54864" cy="3566160"/>
          </a:xfrm>
          <a:prstGeom prst="rect">
            <a:avLst/>
          </a:prstGeom>
          <a:solidFill>
            <a:srgbClr val="1B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18688" y="804672"/>
            <a:ext cx="2798064" cy="54864"/>
          </a:xfrm>
          <a:prstGeom prst="rect">
            <a:avLst/>
          </a:prstGeom>
          <a:solidFill>
            <a:srgbClr val="1B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46704" y="86868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AB5"/>
                </a:solidFill>
              </a:defRPr>
            </a:pPr>
            <a:r>
              <a:t>洞察二：工具链即壁垒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1170432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8C8C8C"/>
                </a:solidFill>
              </a:defRPr>
            </a:pPr>
            <a:r>
              <a:t>从单点工具到系统集成的跃迁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46704" y="1481328"/>
            <a:ext cx="2670048" cy="89611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19856" y="1554480"/>
            <a:ext cx="2542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05252"/>
                </a:solidFill>
              </a:defRPr>
            </a:pPr>
            <a:r>
              <a:t>❌ 散点工具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19856" y="1801368"/>
            <a:ext cx="25420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</a:defRPr>
            </a:pPr>
            <a:r>
              <a:t>每次手动切换，数据格式不统一，效率瓶颈明显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46704" y="2468880"/>
            <a:ext cx="2670048" cy="89611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19856" y="2542032"/>
            <a:ext cx="2542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AAF6C"/>
                </a:solidFill>
              </a:defRPr>
            </a:pPr>
            <a:r>
              <a:t>✅ 闭环自动化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19856" y="2788920"/>
            <a:ext cx="25420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</a:defRPr>
            </a:pPr>
            <a:r>
              <a:t>信号获取→AI分析→多格式报告→归档，全流程Agent驱动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46704" y="3456432"/>
            <a:ext cx="2670048" cy="89611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19856" y="3529584"/>
            <a:ext cx="2542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AB5"/>
                </a:solidFill>
              </a:defRPr>
            </a:pPr>
            <a:r>
              <a:t>📌 原则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19856" y="3776472"/>
            <a:ext cx="25420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</a:defRPr>
            </a:pPr>
            <a:r>
              <a:t>工具链越长，替代成本越高，护城河越深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63056" y="804672"/>
            <a:ext cx="54864" cy="3566160"/>
          </a:xfrm>
          <a:prstGeom prst="rect">
            <a:avLst/>
          </a:prstGeom>
          <a:solidFill>
            <a:srgbClr val="3AA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63056" y="804672"/>
            <a:ext cx="2798064" cy="54864"/>
          </a:xfrm>
          <a:prstGeom prst="rect">
            <a:avLst/>
          </a:prstGeom>
          <a:solidFill>
            <a:srgbClr val="3AA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91072" y="86868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AAF6C"/>
                </a:solidFill>
              </a:defRPr>
            </a:pPr>
            <a:r>
              <a:t>洞察三：第一性原理设计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1072" y="1170432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8C8C8C"/>
                </a:solidFill>
              </a:defRPr>
            </a:pPr>
            <a:r>
              <a:t>信贷审查的8模块来自根本逻辑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91072" y="1481328"/>
            <a:ext cx="2670048" cy="89611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64224" y="1554480"/>
            <a:ext cx="2542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05252"/>
                </a:solidFill>
              </a:defRPr>
            </a:pPr>
            <a:r>
              <a:t>❌ 模板套用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4224" y="1801368"/>
            <a:ext cx="25420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</a:defRPr>
            </a:pPr>
            <a:r>
              <a:t>直接套用格式模板，不问为什么这样设计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91072" y="2468880"/>
            <a:ext cx="2670048" cy="89611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64224" y="2542032"/>
            <a:ext cx="2542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AAF6C"/>
                </a:solidFill>
              </a:defRPr>
            </a:pPr>
            <a:r>
              <a:t>✅ 逻辑自洽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64224" y="2788920"/>
            <a:ext cx="25420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</a:defRPr>
            </a:pPr>
            <a:r>
              <a:t>从"银行信贷看什么"出发 → 8个环环相扣的模块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91072" y="3456432"/>
            <a:ext cx="2670048" cy="89611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64224" y="3529584"/>
            <a:ext cx="2542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AB5"/>
                </a:solidFill>
              </a:defRPr>
            </a:pPr>
            <a:r>
              <a:t>📌 原则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64224" y="3776472"/>
            <a:ext cx="25420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</a:defRPr>
            </a:pPr>
            <a:r>
              <a:t>好的模块设计 = 模块间逻辑无遗漏、无重复、可独立使用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494233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C8C8C"/>
                </a:solidFill>
              </a:defRPr>
            </a:pPr>
            <a:r>
              <a:t>Source: 第一性原理 + 辩证法思维 | 2026年4月21日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总结与下一步</a:t>
            </a:r>
          </a:p>
        </p:txBody>
      </p:sp>
      <p:sp>
        <p:nvSpPr>
          <p:cNvPr id="5" name="Oval 4"/>
          <p:cNvSpPr/>
          <p:nvPr/>
        </p:nvSpPr>
        <p:spPr>
          <a:xfrm>
            <a:off x="8641080" y="4640580"/>
            <a:ext cx="365760" cy="365760"/>
          </a:xfrm>
          <a:prstGeom prst="ellipse">
            <a:avLst/>
          </a:prstGeom>
          <a:solidFill>
            <a:srgbClr val="1B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68512" y="468630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5029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CreditWiki 知识库体系已完整建立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896112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8C"/>
                </a:solidFill>
              </a:defRPr>
            </a:pPr>
            <a:r>
              <a:t>从信号获取到报告生成的完整工具链，为银行信贷工作提供全流程AI能力支撑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61872"/>
            <a:ext cx="4251960" cy="1005840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261872"/>
            <a:ext cx="45720" cy="1005840"/>
          </a:xfrm>
          <a:prstGeom prst="rect">
            <a:avLst/>
          </a:prstGeom>
          <a:solidFill>
            <a:srgbClr val="1B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1353312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AB5"/>
                </a:solidFill>
              </a:defRPr>
            </a:pPr>
            <a:r>
              <a:t>✅ 基础设施就绪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" y="1627631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E0E0E0"/>
                </a:solidFill>
              </a:defRPr>
            </a:pPr>
            <a:r>
              <a:t>credit-review 技能、biz-minimal-ppt 技能、DocForge Word 生成器、数据聚合引擎全部就绪，可直接投入使用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9159" y="1261872"/>
            <a:ext cx="4251960" cy="1005840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09159" y="1261872"/>
            <a:ext cx="45720" cy="1005840"/>
          </a:xfrm>
          <a:prstGeom prst="rect">
            <a:avLst/>
          </a:prstGeom>
          <a:solidFill>
            <a:srgbClr val="2E8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37175" y="1353312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BC0"/>
                </a:solidFill>
              </a:defRPr>
            </a:pPr>
            <a:r>
              <a:t>✅ 验证案例完成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37175" y="1627631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E0E0E0"/>
                </a:solidFill>
              </a:defRPr>
            </a:pPr>
            <a:r>
              <a:t>上海赞禾英泰信贷审查报告（4.2/10）+ 银行数字化转型PPT，验证全流程可运行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377439"/>
            <a:ext cx="4251960" cy="1005840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377439"/>
            <a:ext cx="45720" cy="1005840"/>
          </a:xfrm>
          <a:prstGeom prst="rect">
            <a:avLst/>
          </a:prstGeom>
          <a:solidFill>
            <a:srgbClr val="3AA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" y="2468879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AAF6C"/>
                </a:solidFill>
              </a:defRPr>
            </a:pPr>
            <a:r>
              <a:t>✅ 数据接口稳定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" y="2743199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E0E0E0"/>
                </a:solidFill>
              </a:defRPr>
            </a:pPr>
            <a:r>
              <a:t>新浪财经 HQ API 替代方案验证成功，Tushare 财务数据接入，兴业银行等银行股实时行情可用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59" y="2377439"/>
            <a:ext cx="4251960" cy="1005840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09159" y="2377439"/>
            <a:ext cx="45720" cy="100584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37175" y="2468879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A843"/>
                </a:solidFill>
              </a:defRPr>
            </a:pPr>
            <a:r>
              <a:t>🔜 持续迭代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37175" y="2743199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E0E0E0"/>
                </a:solidFill>
              </a:defRPr>
            </a:pPr>
            <a:r>
              <a:t>积累更多企业数据 → 企业画像数据库；接入更多数据源（舆情、监管）；优化PPT模板设计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3566160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C8C8C"/>
                </a:solidFill>
              </a:defRPr>
            </a:pPr>
            <a:r>
              <a:t>下一步工作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822191"/>
            <a:ext cx="2103120" cy="713232"/>
          </a:xfrm>
          <a:prstGeom prst="rect">
            <a:avLst/>
          </a:prstGeom>
          <a:solidFill>
            <a:srgbClr val="1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3822191"/>
            <a:ext cx="2103120" cy="45720"/>
          </a:xfrm>
          <a:prstGeom prst="rect">
            <a:avLst/>
          </a:prstGeom>
          <a:solidFill>
            <a:srgbClr val="1B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895344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扩大企业覆盖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16052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</a:defRPr>
            </a:pPr>
            <a:r>
              <a:t>招商银行、浦发银行、平安银行等持续追踪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05456" y="3822191"/>
            <a:ext cx="2103120" cy="713232"/>
          </a:xfrm>
          <a:prstGeom prst="rect">
            <a:avLst/>
          </a:prstGeom>
          <a:solidFill>
            <a:srgbClr val="1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505456" y="3822191"/>
            <a:ext cx="2103120" cy="45720"/>
          </a:xfrm>
          <a:prstGeom prst="rect">
            <a:avLst/>
          </a:prstGeom>
          <a:solidFill>
            <a:srgbClr val="2E8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96896" y="3895344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企业画像数据库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96896" y="416052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</a:defRPr>
            </a:pPr>
            <a:r>
              <a:t>积累数据，构建企业画像知识图谱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36592" y="3822191"/>
            <a:ext cx="2103120" cy="713232"/>
          </a:xfrm>
          <a:prstGeom prst="rect">
            <a:avLst/>
          </a:prstGeom>
          <a:solidFill>
            <a:srgbClr val="1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36592" y="3822191"/>
            <a:ext cx="2103120" cy="45720"/>
          </a:xfrm>
          <a:prstGeom prst="rect">
            <a:avLst/>
          </a:prstGeom>
          <a:solidFill>
            <a:srgbClr val="3AA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28031" y="3895344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舆情监控集成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28031" y="416052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</a:defRPr>
            </a:pPr>
            <a:r>
              <a:t>接入新闻舆情数据，实时预警信号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67728" y="3822191"/>
            <a:ext cx="2103120" cy="713232"/>
          </a:xfrm>
          <a:prstGeom prst="rect">
            <a:avLst/>
          </a:prstGeom>
          <a:solidFill>
            <a:srgbClr val="1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967728" y="3822191"/>
            <a:ext cx="2103120" cy="45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59168" y="3895344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PPT模板扩展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9168" y="416052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</a:defRPr>
            </a:pPr>
            <a:r>
              <a:t>增加行业分析、竞品对标等专用模板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4636008"/>
            <a:ext cx="9144000" cy="18288"/>
          </a:xfrm>
          <a:prstGeom prst="rect">
            <a:avLst/>
          </a:prstGeom>
          <a:solidFill>
            <a:srgbClr val="3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468172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843"/>
                </a:solidFill>
              </a:defRPr>
            </a:pPr>
            <a:r>
              <a:t>CreditWiki · Hermes Agent · 银行信贷知识库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" y="486460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</a:defRPr>
            </a:pPr>
            <a:r>
              <a:t>知识库路径：/Users/bismarck/KnowledgeBase/CreditWiki · 报告输出：CreditWiki/outputs/ · 2026年4月21日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