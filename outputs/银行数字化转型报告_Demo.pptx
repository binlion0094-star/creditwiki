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银行数字化转型趋势报告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D9EC"/>
                </a:solidFill>
                <a:latin typeface="Microsoft YaHei"/>
              </a:defRPr>
            </a:pPr>
            <a:r>
              <a:t>2026年度行业分析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BBCC"/>
                </a:solidFill>
                <a:latin typeface="Microsoft YaHei"/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  <a:p>
            <a:pPr>
              <a:spcBef>
                <a:spcPts val="400"/>
              </a:spcBef>
              <a:defRPr sz="1200">
                <a:solidFill>
                  <a:srgbClr val="AABBCC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731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913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行业概况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72"/>
                </a:solidFill>
                <a:latin typeface="Microsoft YaHei"/>
              </a:defRPr>
            </a:pPr>
            <a:r>
              <a:t>数字化转型背景与驱动力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521208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913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72"/>
                </a:solidFill>
                <a:latin typeface="Microsoft YaHei"/>
              </a:defRPr>
            </a:pPr>
            <a:r>
              <a:t>核心技术与基础设施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521208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926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913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72"/>
                </a:solidFill>
                <a:latin typeface="Microsoft YaHei"/>
              </a:defRPr>
            </a:pPr>
            <a:r>
              <a:t>典型业务场景与实践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840480"/>
            <a:ext cx="521208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5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913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233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数据洞察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72"/>
                </a:solidFill>
                <a:latin typeface="Microsoft YaHei"/>
              </a:defRPr>
            </a:pPr>
            <a:r>
              <a:t>行业数据分析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937759"/>
            <a:ext cx="521208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51206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913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120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总结展望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72"/>
                </a:solidFill>
                <a:latin typeface="Microsoft YaHei"/>
              </a:defRPr>
            </a:pPr>
            <a:r>
              <a:t>趋势判断与建议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数字化转型背景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3436"/>
                </a:solidFill>
                <a:latin typeface="Microsoft YaHei"/>
              </a:defRPr>
            </a:pPr>
            <a:r>
              <a:t>● 监管政策持续加码，数字人民币加速落地</a:t>
            </a:r>
          </a:p>
          <a:p>
            <a:pPr>
              <a:spcAft>
                <a:spcPts val="1400"/>
              </a:spcAft>
              <a:defRPr sz="1600">
                <a:solidFill>
                  <a:srgbClr val="2D3436"/>
                </a:solidFill>
                <a:latin typeface="Microsoft YaHei"/>
              </a:defRPr>
            </a:pPr>
            <a:r>
              <a:t>● 利率市场化压缩净息差，数字化成为降本增效关键</a:t>
            </a:r>
          </a:p>
          <a:p>
            <a:pPr>
              <a:spcAft>
                <a:spcPts val="1400"/>
              </a:spcAft>
              <a:defRPr sz="1600">
                <a:solidFill>
                  <a:srgbClr val="2D3436"/>
                </a:solidFill>
                <a:latin typeface="Microsoft YaHei"/>
              </a:defRPr>
            </a:pPr>
            <a:r>
              <a:t>● 客户行为线上化，91%用户偏好移动银行服务</a:t>
            </a:r>
          </a:p>
          <a:p>
            <a:pPr>
              <a:spcAft>
                <a:spcPts val="1400"/>
              </a:spcAft>
              <a:defRPr sz="1600">
                <a:solidFill>
                  <a:srgbClr val="2D3436"/>
                </a:solidFill>
                <a:latin typeface="Microsoft YaHei"/>
              </a:defRPr>
            </a:pPr>
            <a:r>
              <a:t>● AI大模型重塑金融科技格局，Agent成为新战场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913A"/>
                </a:solidFill>
                <a:latin typeface="Arial"/>
              </a:defRPr>
            </a:pPr>
            <a:r>
              <a:t>4.8亿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移动端用户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28600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913A"/>
                </a:solidFill>
                <a:latin typeface="Arial"/>
              </a:defRPr>
            </a:pPr>
            <a: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88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AI渗透率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8328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913A"/>
                </a:solidFill>
                <a:latin typeface="Arial"/>
              </a:defRPr>
            </a:pPr>
            <a:r>
              <a:t>23%/年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862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数字化投入增速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核心技术领域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2651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AI大模型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生成式AI在客服、风控、营销场景规模化落地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887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325880"/>
            <a:ext cx="54864" cy="2651760"/>
          </a:xfrm>
          <a:prstGeom prst="rect">
            <a:avLst/>
          </a:prstGeom>
          <a:solidFill>
            <a:srgbClr val="4A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1417320"/>
            <a:ext cx="411480" cy="411480"/>
          </a:xfrm>
          <a:prstGeom prst="ellipse">
            <a:avLst/>
          </a:prstGeom>
          <a:solidFill>
            <a:srgbClr val="4A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463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区块链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828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供应链金融、跨境支付、数字资产托管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4864" cy="265176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云原生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8288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分布式架构、微服务、容器化部署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34340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54864" cy="26517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720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数据中台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实时数据湖湖仓一体，支撑智能决策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34340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4480560"/>
            <a:ext cx="54864" cy="26517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20440" y="4572000"/>
            <a:ext cx="411480" cy="41148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6177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5720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隐私计算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9834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联邦学习、多方安全计算保护数据流通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34340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480560"/>
            <a:ext cx="54864" cy="2651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57200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6177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5720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开放银行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9834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36E72"/>
                </a:solidFill>
                <a:latin typeface="Microsoft YaHei"/>
              </a:defRPr>
            </a:pPr>
            <a:r>
              <a:t>API开放生态，场景金融深度融合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行业核心指标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304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8913A"/>
                </a:solidFill>
                <a:latin typeface="Arial"/>
              </a:defRPr>
            </a:pPr>
            <a:r>
              <a:t>¥48万亿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304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D9EC"/>
                </a:solidFill>
                <a:latin typeface="Microsoft YaHei"/>
              </a:defRPr>
            </a:pPr>
            <a:r>
              <a:t>金融科技市场规模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9712" y="1188720"/>
            <a:ext cx="36576" cy="274320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0" y="1371600"/>
            <a:ext cx="304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8913A"/>
                </a:solidFill>
                <a:latin typeface="Arial"/>
              </a:defRPr>
            </a:pPr>
            <a:r>
              <a:t>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2834640"/>
            <a:ext cx="304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D9EC"/>
                </a:solidFill>
                <a:latin typeface="Microsoft YaHei"/>
              </a:defRPr>
            </a:pPr>
            <a:r>
              <a:t>银行AI渗透率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7712" y="1188720"/>
            <a:ext cx="36576" cy="274320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1371600"/>
            <a:ext cx="304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8913A"/>
                </a:solidFill>
                <a:latin typeface="Arial"/>
              </a:defRPr>
            </a:pPr>
            <a:r>
              <a:t>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834640"/>
            <a:ext cx="304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D9EC"/>
                </a:solidFill>
                <a:latin typeface="Microsoft YaHei"/>
              </a:defRPr>
            </a:pPr>
            <a:r>
              <a:t>年均投入增速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数字化转型历程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680960" cy="36576"/>
          </a:xfrm>
          <a:prstGeom prst="rect">
            <a:avLst/>
          </a:prstGeom>
          <a:solidFill>
            <a:srgbClr val="4A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633472"/>
            <a:ext cx="219456" cy="219456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Arial"/>
              </a:defRPr>
            </a:pPr>
            <a: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9260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36"/>
                </a:solidFill>
                <a:latin typeface="Microsoft YaHei"/>
              </a:defRPr>
            </a:pPr>
            <a:r>
              <a:t>移动优先战略启动</a:t>
            </a:r>
          </a:p>
        </p:txBody>
      </p:sp>
      <p:sp>
        <p:nvSpPr>
          <p:cNvPr id="10" name="Oval 9"/>
          <p:cNvSpPr/>
          <p:nvPr/>
        </p:nvSpPr>
        <p:spPr>
          <a:xfrm>
            <a:off x="2542032" y="2633472"/>
            <a:ext cx="219456" cy="219456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Arial"/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260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36"/>
                </a:solidFill>
                <a:latin typeface="Microsoft YaHei"/>
              </a:defRPr>
            </a:pPr>
            <a:r>
              <a:t>分布式核心系统上线</a:t>
            </a:r>
          </a:p>
        </p:txBody>
      </p:sp>
      <p:sp>
        <p:nvSpPr>
          <p:cNvPr id="13" name="Oval 12"/>
          <p:cNvSpPr/>
          <p:nvPr/>
        </p:nvSpPr>
        <p:spPr>
          <a:xfrm>
            <a:off x="4462272" y="2633472"/>
            <a:ext cx="219456" cy="219456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36"/>
                </a:solidFill>
                <a:latin typeface="Microsoft YaHei"/>
              </a:defRPr>
            </a:pPr>
            <a:r>
              <a:t>大模型试点应用</a:t>
            </a:r>
          </a:p>
        </p:txBody>
      </p:sp>
      <p:sp>
        <p:nvSpPr>
          <p:cNvPr id="16" name="Oval 15"/>
          <p:cNvSpPr/>
          <p:nvPr/>
        </p:nvSpPr>
        <p:spPr>
          <a:xfrm>
            <a:off x="6382512" y="2633472"/>
            <a:ext cx="219456" cy="219456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Arial"/>
              </a:defRPr>
            </a:pPr>
            <a: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9260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36"/>
                </a:solidFill>
                <a:latin typeface="Microsoft YaHei"/>
              </a:defRPr>
            </a:pPr>
            <a:r>
              <a:t>Agent平台建设</a:t>
            </a:r>
          </a:p>
        </p:txBody>
      </p:sp>
      <p:sp>
        <p:nvSpPr>
          <p:cNvPr id="19" name="Oval 18"/>
          <p:cNvSpPr/>
          <p:nvPr/>
        </p:nvSpPr>
        <p:spPr>
          <a:xfrm>
            <a:off x="8302752" y="2633472"/>
            <a:ext cx="219456" cy="219456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36"/>
                </a:solidFill>
                <a:latin typeface="Microsoft YaHei"/>
              </a:defRPr>
            </a:pPr>
            <a:r>
              <a:t>全面智能化落地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传统银行 vs 数字银行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4023360" cy="36576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传统银行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柜台人工办理为主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45分钟平均办理时长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9:00-17:00营业时间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碎片化数据孤岛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697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097280"/>
            <a:ext cx="4023360" cy="36576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数字银行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全天候线上服务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3分钟全流程办理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7×24小时不间断</a:t>
            </a:r>
          </a:p>
          <a:p>
            <a:pPr>
              <a:spcAft>
                <a:spcPts val="1000"/>
              </a:spcAft>
              <a:defRPr sz="1400">
                <a:solidFill>
                  <a:srgbClr val="2D3436"/>
                </a:solidFill>
                <a:latin typeface="Microsoft YaHei"/>
              </a:defRPr>
            </a:pPr>
            <a:r>
              <a:t>✓ 数据驱动智能决策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  <a:latin typeface="Microsoft YaHei"/>
              </a:defRPr>
            </a:pPr>
            <a:r>
              <a:t>总结与建议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AI Agent将成为银行数字化竞争的核心战场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数据资产化能力决定银行智能化天花板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开放生态是中小银行差异化突围关键路径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00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718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监管科技同步进化，合规能力即竞争力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💡 建议优先布局AI Agent平台，分阶段推进核心系统云原生改造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